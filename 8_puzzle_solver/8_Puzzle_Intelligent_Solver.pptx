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67" r:id="rId2"/>
    <p:sldId id="256" r:id="rId3"/>
    <p:sldId id="257" r:id="rId4"/>
    <p:sldId id="258" r:id="rId5"/>
    <p:sldId id="259" r:id="rId6"/>
    <p:sldId id="260" r:id="rId7"/>
    <p:sldId id="261" r:id="rId8"/>
    <p:sldId id="266" r:id="rId9"/>
    <p:sldId id="262" r:id="rId10"/>
    <p:sldId id="263" r:id="rId11"/>
    <p:sldId id="264" r:id="rId12"/>
    <p:sldId id="265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B981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934506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F9452-2B73-ADFC-5714-7B4ECC5FCE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6071F6-4DB2-4958-CF20-788E820B96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D8084C-5367-1375-8C08-777426F029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674C71-28AD-39B6-61A4-14F6C5C287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9305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2782B0-FC98-8344-350E-054102AFE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5FB352-C047-8B17-8EFC-2B19C2F9D3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DFEC27-3B20-E3D7-4807-58D115FFB1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5DF2AE-927F-B385-1860-4D5A031454B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0526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F959F-E71F-A7C0-1C6F-8025D4124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631A1B9-6D00-5F4C-CC69-045414E8A4F2}"/>
              </a:ext>
            </a:extLst>
          </p:cNvPr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2135888-C3F0-37FE-0057-AE97A37BC9CC}"/>
              </a:ext>
            </a:extLst>
          </p:cNvPr>
          <p:cNvSpPr/>
          <p:nvPr/>
        </p:nvSpPr>
        <p:spPr>
          <a:xfrm>
            <a:off x="6858000" y="566928"/>
            <a:ext cx="6309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56E1C7C-7D7C-C229-2073-CED00F932F17}"/>
              </a:ext>
            </a:extLst>
          </p:cNvPr>
          <p:cNvSpPr/>
          <p:nvPr/>
        </p:nvSpPr>
        <p:spPr>
          <a:xfrm>
            <a:off x="7543800" y="566928"/>
            <a:ext cx="6309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8B10A2EF-FD6F-F8DD-433C-DCA45E92C0CE}"/>
              </a:ext>
            </a:extLst>
          </p:cNvPr>
          <p:cNvSpPr/>
          <p:nvPr/>
        </p:nvSpPr>
        <p:spPr>
          <a:xfrm>
            <a:off x="8229600" y="566928"/>
            <a:ext cx="6309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FCA1B324-DE6B-95BD-4D0A-24E6BB4FB2D5}"/>
              </a:ext>
            </a:extLst>
          </p:cNvPr>
          <p:cNvSpPr/>
          <p:nvPr/>
        </p:nvSpPr>
        <p:spPr>
          <a:xfrm>
            <a:off x="6858000" y="1252728"/>
            <a:ext cx="6309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4</a:t>
            </a:r>
            <a:endParaRPr lang="en-US" sz="22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A33154C3-D95F-9A84-E105-23C0FB536154}"/>
              </a:ext>
            </a:extLst>
          </p:cNvPr>
          <p:cNvSpPr/>
          <p:nvPr/>
        </p:nvSpPr>
        <p:spPr>
          <a:xfrm>
            <a:off x="8229600" y="1252728"/>
            <a:ext cx="6309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5</a:t>
            </a:r>
            <a:endParaRPr lang="en-US" sz="22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C1A4F7F4-418C-2A0E-4AAC-BCA5807215EB}"/>
              </a:ext>
            </a:extLst>
          </p:cNvPr>
          <p:cNvSpPr/>
          <p:nvPr/>
        </p:nvSpPr>
        <p:spPr>
          <a:xfrm>
            <a:off x="6858000" y="1938528"/>
            <a:ext cx="6309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6</a:t>
            </a:r>
            <a:endParaRPr lang="en-US" sz="22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D423A3A8-2A2D-E0D3-768C-6595F59B7F61}"/>
              </a:ext>
            </a:extLst>
          </p:cNvPr>
          <p:cNvSpPr/>
          <p:nvPr/>
        </p:nvSpPr>
        <p:spPr>
          <a:xfrm>
            <a:off x="7543800" y="1938528"/>
            <a:ext cx="6309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7</a:t>
            </a:r>
            <a:endParaRPr lang="en-US" sz="22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AEE5F062-0056-DDCE-FD95-A06B34F97A14}"/>
              </a:ext>
            </a:extLst>
          </p:cNvPr>
          <p:cNvSpPr/>
          <p:nvPr/>
        </p:nvSpPr>
        <p:spPr>
          <a:xfrm>
            <a:off x="8229600" y="1938528"/>
            <a:ext cx="6309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8</a:t>
            </a:r>
            <a:endParaRPr lang="en-US" sz="220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F1088F37-34C2-CACB-3F64-B993E2C598A7}"/>
              </a:ext>
            </a:extLst>
          </p:cNvPr>
          <p:cNvSpPr/>
          <p:nvPr/>
        </p:nvSpPr>
        <p:spPr>
          <a:xfrm>
            <a:off x="9052560" y="1371600"/>
            <a:ext cx="0" cy="2286000"/>
          </a:xfrm>
          <a:prstGeom prst="line">
            <a:avLst/>
          </a:prstGeom>
          <a:noFill/>
          <a:ln w="38100">
            <a:solidFill>
              <a:srgbClr val="F59E0B"/>
            </a:solidFill>
            <a:prstDash val="dash"/>
          </a:ln>
        </p:spPr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FB28CB3A-D3F1-9E67-F66B-4C58CCB814E8}"/>
              </a:ext>
            </a:extLst>
          </p:cNvPr>
          <p:cNvSpPr/>
          <p:nvPr/>
        </p:nvSpPr>
        <p:spPr>
          <a:xfrm>
            <a:off x="6871716" y="2602699"/>
            <a:ext cx="6309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B643E29A-03BE-D9E2-0B0F-ADFC26D43C7F}"/>
              </a:ext>
            </a:extLst>
          </p:cNvPr>
          <p:cNvSpPr/>
          <p:nvPr/>
        </p:nvSpPr>
        <p:spPr>
          <a:xfrm>
            <a:off x="7557516" y="2619404"/>
            <a:ext cx="6309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ABD3328C-E249-B237-8677-C2ED144642C3}"/>
              </a:ext>
            </a:extLst>
          </p:cNvPr>
          <p:cNvSpPr/>
          <p:nvPr/>
        </p:nvSpPr>
        <p:spPr>
          <a:xfrm>
            <a:off x="8238744" y="2635582"/>
            <a:ext cx="6309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F33522C8-C5DD-7844-6EE0-3CC2845EE37E}"/>
              </a:ext>
            </a:extLst>
          </p:cNvPr>
          <p:cNvSpPr/>
          <p:nvPr/>
        </p:nvSpPr>
        <p:spPr>
          <a:xfrm>
            <a:off x="6878750" y="3281289"/>
            <a:ext cx="6309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4</a:t>
            </a:r>
            <a:endParaRPr lang="en-US" sz="2200" dirty="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5EE64118-217D-A90F-D843-599ED412AD9B}"/>
              </a:ext>
            </a:extLst>
          </p:cNvPr>
          <p:cNvSpPr/>
          <p:nvPr/>
        </p:nvSpPr>
        <p:spPr>
          <a:xfrm>
            <a:off x="7567364" y="3281289"/>
            <a:ext cx="6309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5</a:t>
            </a:r>
            <a:endParaRPr lang="en-US" sz="2200" dirty="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9B89B63F-CF71-9F4F-571F-D8A9B623AF1D}"/>
              </a:ext>
            </a:extLst>
          </p:cNvPr>
          <p:cNvSpPr/>
          <p:nvPr/>
        </p:nvSpPr>
        <p:spPr>
          <a:xfrm>
            <a:off x="8223621" y="3328416"/>
            <a:ext cx="6309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6</a:t>
            </a:r>
            <a:endParaRPr lang="en-US" sz="2200" dirty="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1559BECB-9AFE-D70A-8A76-FD16E066D5D6}"/>
              </a:ext>
            </a:extLst>
          </p:cNvPr>
          <p:cNvSpPr/>
          <p:nvPr/>
        </p:nvSpPr>
        <p:spPr>
          <a:xfrm>
            <a:off x="6906182" y="3990653"/>
            <a:ext cx="6309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7</a:t>
            </a:r>
            <a:endParaRPr lang="en-US" sz="2200" dirty="0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163D5082-CC28-EB2B-4DA4-0E6CC95E8BE8}"/>
              </a:ext>
            </a:extLst>
          </p:cNvPr>
          <p:cNvSpPr/>
          <p:nvPr/>
        </p:nvSpPr>
        <p:spPr>
          <a:xfrm>
            <a:off x="7557516" y="3990653"/>
            <a:ext cx="6309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8</a:t>
            </a:r>
            <a:endParaRPr lang="en-US" sz="2200" dirty="0"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1B41E994-A57B-1656-59A0-FAE0B99574C6}"/>
              </a:ext>
            </a:extLst>
          </p:cNvPr>
          <p:cNvSpPr/>
          <p:nvPr/>
        </p:nvSpPr>
        <p:spPr>
          <a:xfrm>
            <a:off x="349934" y="650982"/>
            <a:ext cx="6217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5200" dirty="0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6E080112-9499-F5C9-1D4A-2062CD2A05E5}"/>
              </a:ext>
            </a:extLst>
          </p:cNvPr>
          <p:cNvSpPr/>
          <p:nvPr/>
        </p:nvSpPr>
        <p:spPr>
          <a:xfrm>
            <a:off x="352396" y="1361752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Soler</a:t>
            </a:r>
            <a:endParaRPr lang="en-US" sz="3800" dirty="0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0B9D7995-012D-1BD1-162E-A57DE86E589F}"/>
              </a:ext>
            </a:extLst>
          </p:cNvPr>
          <p:cNvSpPr/>
          <p:nvPr/>
        </p:nvSpPr>
        <p:spPr>
          <a:xfrm>
            <a:off x="799046" y="648651"/>
            <a:ext cx="6831974" cy="34610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IN" sz="2000" b="1" dirty="0"/>
              <a:t>Presented by- </a:t>
            </a:r>
          </a:p>
          <a:p>
            <a:pPr algn="ctr"/>
            <a:r>
              <a:rPr lang="en-IN" sz="2000" b="1" dirty="0"/>
              <a:t>       </a:t>
            </a:r>
            <a:r>
              <a:rPr lang="en-IN" sz="2800" b="1" dirty="0"/>
              <a:t>Anuska Dey(13030523008) </a:t>
            </a:r>
          </a:p>
          <a:p>
            <a:pPr algn="ctr"/>
            <a:r>
              <a:rPr lang="en-IN" sz="2800" b="1" dirty="0"/>
              <a:t>Avinanda </a:t>
            </a:r>
            <a:r>
              <a:rPr lang="en-IN" sz="2800" b="1" dirty="0" err="1"/>
              <a:t>Guchait</a:t>
            </a:r>
            <a:r>
              <a:rPr lang="en-IN" sz="2800" b="1" dirty="0"/>
              <a:t>(13030523016)</a:t>
            </a:r>
          </a:p>
          <a:p>
            <a:pPr algn="ctr"/>
            <a:r>
              <a:rPr lang="en-IN" sz="2800" b="1" dirty="0"/>
              <a:t>Ayush Kumar Shaw(13030523018)</a:t>
            </a:r>
          </a:p>
          <a:p>
            <a:pPr algn="ctr"/>
            <a:r>
              <a:rPr lang="en-IN" sz="2800" b="1" dirty="0"/>
              <a:t>     Tapasi Garai(13030523058)</a:t>
            </a:r>
            <a:endParaRPr lang="en-IN" sz="3600" dirty="0"/>
          </a:p>
          <a:p>
            <a:pPr algn="ctr"/>
            <a:r>
              <a:rPr lang="en-IN" sz="2800" b="1" dirty="0"/>
              <a:t>Sem: 06</a:t>
            </a:r>
            <a:r>
              <a:rPr lang="en-IN" sz="2800" b="1" baseline="30000" dirty="0"/>
              <a:t>th</a:t>
            </a:r>
            <a:endParaRPr lang="en-IN" sz="3600" dirty="0"/>
          </a:p>
          <a:p>
            <a:pPr algn="ctr"/>
            <a:r>
              <a:rPr lang="en-IN" sz="2800" b="1" dirty="0"/>
              <a:t>Subject code:   PCC-DS 601</a:t>
            </a:r>
            <a:endParaRPr lang="en-IN" sz="3600" dirty="0"/>
          </a:p>
          <a:p>
            <a:pPr algn="ctr"/>
            <a:r>
              <a:rPr lang="en-IN" sz="2800" b="1" dirty="0"/>
              <a:t>Subject: Artificial Intelligence</a:t>
            </a:r>
            <a:endParaRPr lang="en-IN" sz="3600" dirty="0"/>
          </a:p>
          <a:p>
            <a:pPr algn="ctr"/>
            <a:r>
              <a:rPr lang="en-IN" sz="2800" b="1" dirty="0"/>
              <a:t>Stream: CSE(DS)</a:t>
            </a:r>
            <a:endParaRPr lang="en-IN" sz="3600" dirty="0"/>
          </a:p>
          <a:p>
            <a:br>
              <a:rPr lang="en-IN" sz="1200" dirty="0"/>
            </a:br>
            <a:endParaRPr lang="en-US" sz="1200" b="1" dirty="0">
              <a:latin typeface="TT Firs Neue Bold"/>
              <a:ea typeface="TT Firs Neue Bold"/>
              <a:cs typeface="TT Firs Neue Bold"/>
              <a:sym typeface="TT Firs Neue Bold"/>
            </a:endParaRPr>
          </a:p>
          <a:p>
            <a:pPr marL="0" indent="0">
              <a:buNone/>
            </a:pPr>
            <a:endParaRPr lang="en-US" sz="1500" dirty="0"/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84B3EAF1-959F-60C3-E181-077B389001D1}"/>
              </a:ext>
            </a:extLst>
          </p:cNvPr>
          <p:cNvSpPr/>
          <p:nvPr/>
        </p:nvSpPr>
        <p:spPr>
          <a:xfrm>
            <a:off x="365760" y="283464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BFS</a:t>
            </a:r>
            <a:endParaRPr lang="en-US" sz="1100" dirty="0"/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ADB8323A-EFE9-1185-E44C-1C474E9BA597}"/>
              </a:ext>
            </a:extLst>
          </p:cNvPr>
          <p:cNvSpPr/>
          <p:nvPr/>
        </p:nvSpPr>
        <p:spPr>
          <a:xfrm>
            <a:off x="1783080" y="283464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DFS</a:t>
            </a:r>
            <a:endParaRPr lang="en-US" sz="1100" dirty="0"/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FEF87419-8622-C5C7-A222-CA3514D07149}"/>
              </a:ext>
            </a:extLst>
          </p:cNvPr>
          <p:cNvSpPr/>
          <p:nvPr/>
        </p:nvSpPr>
        <p:spPr>
          <a:xfrm>
            <a:off x="3200400" y="283464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A*</a:t>
            </a:r>
            <a:endParaRPr lang="en-US" sz="1100" dirty="0"/>
          </a:p>
        </p:txBody>
      </p:sp>
      <p:sp>
        <p:nvSpPr>
          <p:cNvPr id="48" name="Text 46">
            <a:extLst>
              <a:ext uri="{FF2B5EF4-FFF2-40B4-BE49-F238E27FC236}">
                <a16:creationId xmlns:a16="http://schemas.microsoft.com/office/drawing/2014/main" id="{7DD927C7-84EF-AAD3-C35D-1484EF4951D4}"/>
              </a:ext>
            </a:extLst>
          </p:cNvPr>
          <p:cNvSpPr/>
          <p:nvPr/>
        </p:nvSpPr>
        <p:spPr>
          <a:xfrm>
            <a:off x="1005840" y="3374136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Heuristics</a:t>
            </a:r>
            <a:endParaRPr lang="en-US" sz="1100" dirty="0"/>
          </a:p>
        </p:txBody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1D4EB1B4-CAB4-E954-3D32-98C5D8FABEB8}"/>
              </a:ext>
            </a:extLst>
          </p:cNvPr>
          <p:cNvSpPr/>
          <p:nvPr/>
        </p:nvSpPr>
        <p:spPr>
          <a:xfrm>
            <a:off x="2651760" y="3367102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AI Search</a:t>
            </a:r>
            <a:endParaRPr lang="en-US" sz="1100" dirty="0"/>
          </a:p>
        </p:txBody>
      </p:sp>
      <p:sp>
        <p:nvSpPr>
          <p:cNvPr id="51" name="Shape 49">
            <a:extLst>
              <a:ext uri="{FF2B5EF4-FFF2-40B4-BE49-F238E27FC236}">
                <a16:creationId xmlns:a16="http://schemas.microsoft.com/office/drawing/2014/main" id="{F4482D81-4A0D-1987-CF03-03A143A7C816}"/>
              </a:ext>
            </a:extLst>
          </p:cNvPr>
          <p:cNvSpPr/>
          <p:nvPr/>
        </p:nvSpPr>
        <p:spPr>
          <a:xfrm>
            <a:off x="182880" y="4712677"/>
            <a:ext cx="6217920" cy="0"/>
          </a:xfrm>
          <a:prstGeom prst="line">
            <a:avLst/>
          </a:prstGeom>
          <a:noFill/>
          <a:ln w="12700">
            <a:solidFill>
              <a:srgbClr val="0891B2"/>
            </a:solidFill>
            <a:prstDash val="solid"/>
          </a:ln>
        </p:spPr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81F5FDB-A3C6-9D01-57CE-EC6CFDE67814}"/>
              </a:ext>
            </a:extLst>
          </p:cNvPr>
          <p:cNvSpPr txBox="1"/>
          <p:nvPr/>
        </p:nvSpPr>
        <p:spPr>
          <a:xfrm>
            <a:off x="2424600" y="6824534"/>
            <a:ext cx="4863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137825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457200"/>
            <a:ext cx="630936" cy="630936"/>
          </a:xfrm>
          <a:prstGeom prst="rect">
            <a:avLst/>
          </a:prstGeom>
          <a:solidFill>
            <a:srgbClr val="0891B2"/>
          </a:solidFill>
          <a:ln w="19050">
            <a:solidFill>
              <a:srgbClr val="06B6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858000" y="566928"/>
            <a:ext cx="6309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543800" y="457200"/>
            <a:ext cx="630936" cy="630936"/>
          </a:xfrm>
          <a:prstGeom prst="rect">
            <a:avLst/>
          </a:prstGeom>
          <a:solidFill>
            <a:srgbClr val="0891B2"/>
          </a:solidFill>
          <a:ln w="19050">
            <a:solidFill>
              <a:srgbClr val="06B6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543800" y="566928"/>
            <a:ext cx="6309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8229600" y="457200"/>
            <a:ext cx="630936" cy="630936"/>
          </a:xfrm>
          <a:prstGeom prst="rect">
            <a:avLst/>
          </a:prstGeom>
          <a:solidFill>
            <a:srgbClr val="0891B2"/>
          </a:solidFill>
          <a:ln w="19050">
            <a:solidFill>
              <a:srgbClr val="06B6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0" y="566928"/>
            <a:ext cx="6309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858000" y="1143000"/>
            <a:ext cx="630936" cy="630936"/>
          </a:xfrm>
          <a:prstGeom prst="rect">
            <a:avLst/>
          </a:prstGeom>
          <a:solidFill>
            <a:srgbClr val="0891B2"/>
          </a:solidFill>
          <a:ln w="19050">
            <a:solidFill>
              <a:srgbClr val="06B6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858000" y="1252728"/>
            <a:ext cx="6309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4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7543800" y="1143000"/>
            <a:ext cx="630936" cy="630936"/>
          </a:xfrm>
          <a:prstGeom prst="rect">
            <a:avLst/>
          </a:prstGeom>
          <a:solidFill>
            <a:srgbClr val="1B2A4A"/>
          </a:solidFill>
          <a:ln w="19050">
            <a:solidFill>
              <a:srgbClr val="06B6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229600" y="1143000"/>
            <a:ext cx="630936" cy="630936"/>
          </a:xfrm>
          <a:prstGeom prst="rect">
            <a:avLst/>
          </a:prstGeom>
          <a:solidFill>
            <a:srgbClr val="0891B2"/>
          </a:solidFill>
          <a:ln w="19050">
            <a:solidFill>
              <a:srgbClr val="06B6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29600" y="1252728"/>
            <a:ext cx="6309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5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6858000" y="1828800"/>
            <a:ext cx="630936" cy="630936"/>
          </a:xfrm>
          <a:prstGeom prst="rect">
            <a:avLst/>
          </a:prstGeom>
          <a:solidFill>
            <a:srgbClr val="0891B2"/>
          </a:solidFill>
          <a:ln w="19050">
            <a:solidFill>
              <a:srgbClr val="06B6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58000" y="1938528"/>
            <a:ext cx="6309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6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7543800" y="1828800"/>
            <a:ext cx="630936" cy="630936"/>
          </a:xfrm>
          <a:prstGeom prst="rect">
            <a:avLst/>
          </a:prstGeom>
          <a:solidFill>
            <a:srgbClr val="0891B2"/>
          </a:solidFill>
          <a:ln w="19050">
            <a:solidFill>
              <a:srgbClr val="06B6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543800" y="1938528"/>
            <a:ext cx="6309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7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8229600" y="1828800"/>
            <a:ext cx="630936" cy="630936"/>
          </a:xfrm>
          <a:prstGeom prst="rect">
            <a:avLst/>
          </a:prstGeom>
          <a:solidFill>
            <a:srgbClr val="0891B2"/>
          </a:solidFill>
          <a:ln w="19050">
            <a:solidFill>
              <a:srgbClr val="06B6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229600" y="1938528"/>
            <a:ext cx="6309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8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9052560" y="1371600"/>
            <a:ext cx="0" cy="2286000"/>
          </a:xfrm>
          <a:prstGeom prst="line">
            <a:avLst/>
          </a:prstGeom>
          <a:noFill/>
          <a:ln w="38100">
            <a:solidFill>
              <a:srgbClr val="F59E0B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6871716" y="2534119"/>
            <a:ext cx="630936" cy="630936"/>
          </a:xfrm>
          <a:prstGeom prst="rect">
            <a:avLst/>
          </a:prstGeom>
          <a:solidFill>
            <a:srgbClr val="10B981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71716" y="2602699"/>
            <a:ext cx="6309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7557516" y="2539570"/>
            <a:ext cx="630936" cy="630936"/>
          </a:xfrm>
          <a:prstGeom prst="rect">
            <a:avLst/>
          </a:prstGeom>
          <a:solidFill>
            <a:srgbClr val="10B981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57516" y="2619404"/>
            <a:ext cx="6309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8250350" y="2539570"/>
            <a:ext cx="630936" cy="630936"/>
          </a:xfrm>
          <a:prstGeom prst="rect">
            <a:avLst/>
          </a:prstGeom>
          <a:solidFill>
            <a:srgbClr val="10B981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38744" y="2635582"/>
            <a:ext cx="6309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6871716" y="3218688"/>
            <a:ext cx="630936" cy="630936"/>
          </a:xfrm>
          <a:prstGeom prst="rect">
            <a:avLst/>
          </a:prstGeom>
          <a:solidFill>
            <a:srgbClr val="10B981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78750" y="3281289"/>
            <a:ext cx="6309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4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7557516" y="3225370"/>
            <a:ext cx="630936" cy="630936"/>
          </a:xfrm>
          <a:prstGeom prst="rect">
            <a:avLst/>
          </a:prstGeom>
          <a:solidFill>
            <a:srgbClr val="10B981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567364" y="3281289"/>
            <a:ext cx="6309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5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8243316" y="3232404"/>
            <a:ext cx="630936" cy="630936"/>
          </a:xfrm>
          <a:prstGeom prst="rect">
            <a:avLst/>
          </a:prstGeom>
          <a:solidFill>
            <a:srgbClr val="10B981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23621" y="3328416"/>
            <a:ext cx="6309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6</a:t>
            </a:r>
            <a:endParaRPr lang="en-US" sz="2200" dirty="0"/>
          </a:p>
        </p:txBody>
      </p:sp>
      <p:sp>
        <p:nvSpPr>
          <p:cNvPr id="33" name="Shape 31"/>
          <p:cNvSpPr/>
          <p:nvPr/>
        </p:nvSpPr>
        <p:spPr>
          <a:xfrm>
            <a:off x="6878750" y="3891123"/>
            <a:ext cx="630936" cy="630936"/>
          </a:xfrm>
          <a:prstGeom prst="rect">
            <a:avLst/>
          </a:prstGeom>
          <a:solidFill>
            <a:srgbClr val="10B981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06182" y="3990653"/>
            <a:ext cx="6309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7</a:t>
            </a:r>
            <a:endParaRPr lang="en-US" sz="2200" dirty="0"/>
          </a:p>
        </p:txBody>
      </p:sp>
      <p:sp>
        <p:nvSpPr>
          <p:cNvPr id="35" name="Shape 33"/>
          <p:cNvSpPr/>
          <p:nvPr/>
        </p:nvSpPr>
        <p:spPr>
          <a:xfrm>
            <a:off x="7564550" y="3891123"/>
            <a:ext cx="630936" cy="630936"/>
          </a:xfrm>
          <a:prstGeom prst="rect">
            <a:avLst/>
          </a:prstGeom>
          <a:solidFill>
            <a:srgbClr val="10B981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57516" y="3990653"/>
            <a:ext cx="6309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8</a:t>
            </a:r>
            <a:endParaRPr lang="en-US" sz="2200" dirty="0"/>
          </a:p>
        </p:txBody>
      </p:sp>
      <p:sp>
        <p:nvSpPr>
          <p:cNvPr id="37" name="Shape 35"/>
          <p:cNvSpPr/>
          <p:nvPr/>
        </p:nvSpPr>
        <p:spPr>
          <a:xfrm>
            <a:off x="8236282" y="3903785"/>
            <a:ext cx="630936" cy="630936"/>
          </a:xfrm>
          <a:prstGeom prst="rect">
            <a:avLst/>
          </a:prstGeom>
          <a:solidFill>
            <a:srgbClr val="0D1B2A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9934" y="650982"/>
            <a:ext cx="6217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8-Puzzle</a:t>
            </a:r>
            <a:endParaRPr lang="en-US" sz="5200" dirty="0"/>
          </a:p>
        </p:txBody>
      </p:sp>
      <p:sp>
        <p:nvSpPr>
          <p:cNvPr id="39" name="Text 37"/>
          <p:cNvSpPr/>
          <p:nvPr/>
        </p:nvSpPr>
        <p:spPr>
          <a:xfrm>
            <a:off x="352396" y="1361752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Solver</a:t>
            </a:r>
            <a:endParaRPr lang="en-US" sz="3800" dirty="0"/>
          </a:p>
        </p:txBody>
      </p:sp>
      <p:sp>
        <p:nvSpPr>
          <p:cNvPr id="40" name="Text 38"/>
          <p:cNvSpPr/>
          <p:nvPr/>
        </p:nvSpPr>
        <p:spPr>
          <a:xfrm>
            <a:off x="365760" y="20574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Multiple Search Strategies &amp; Performance Comparison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365760" y="2834640"/>
            <a:ext cx="1280160" cy="347472"/>
          </a:xfrm>
          <a:prstGeom prst="roundRect">
            <a:avLst/>
          </a:prstGeom>
          <a:solidFill>
            <a:srgbClr val="0891B2">
              <a:alpha val="8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283464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BFS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1783080" y="2834640"/>
            <a:ext cx="1280160" cy="347472"/>
          </a:xfrm>
          <a:prstGeom prst="roundRect">
            <a:avLst/>
          </a:prstGeom>
          <a:solidFill>
            <a:srgbClr val="0891B2">
              <a:alpha val="8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783080" y="283464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DFS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3200400" y="2834640"/>
            <a:ext cx="1280160" cy="347472"/>
          </a:xfrm>
          <a:prstGeom prst="roundRect">
            <a:avLst/>
          </a:prstGeom>
          <a:solidFill>
            <a:srgbClr val="0891B2">
              <a:alpha val="8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00400" y="283464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A*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1005840" y="3396996"/>
            <a:ext cx="1280160" cy="347472"/>
          </a:xfrm>
          <a:prstGeom prst="roundRect">
            <a:avLst/>
          </a:prstGeom>
          <a:solidFill>
            <a:srgbClr val="0891B2">
              <a:alpha val="8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005840" y="3374136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Heuristics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2658794" y="3387852"/>
            <a:ext cx="1280160" cy="347472"/>
          </a:xfrm>
          <a:prstGeom prst="roundRect">
            <a:avLst/>
          </a:prstGeom>
          <a:solidFill>
            <a:srgbClr val="0891B2">
              <a:alpha val="8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651760" y="3367102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AI Search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365760" y="4206240"/>
            <a:ext cx="6217920" cy="0"/>
          </a:xfrm>
          <a:prstGeom prst="line">
            <a:avLst/>
          </a:prstGeom>
          <a:noFill/>
          <a:ln w="12700">
            <a:solidFill>
              <a:srgbClr val="0891B2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40233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972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91B2"/>
                </a:solidFill>
              </a:rPr>
              <a:t>What is the 8-Puzzle?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572768"/>
            <a:ext cx="37490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 3×3 sliding tile puzzle with tiles 1–8 and one blank space.</a:t>
            </a:r>
            <a:endParaRPr lang="en-US" sz="1300" dirty="0"/>
          </a:p>
          <a:p>
            <a:pPr marL="0" indent="0">
              <a:buNone/>
            </a:pPr>
            <a:r>
              <a:rPr lang="en-US" sz="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The goal is to reach the target configuration by sliding tiles into the blank.</a:t>
            </a:r>
            <a:endParaRPr lang="en-US" sz="1300" dirty="0"/>
          </a:p>
          <a:p>
            <a:pPr marL="0" indent="0">
              <a:buNone/>
            </a:pPr>
            <a:r>
              <a:rPr lang="en-US" sz="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Total states: 9! / 2 = 181,440 reachable.</a:t>
            </a:r>
            <a:endParaRPr lang="en-US" sz="1300" dirty="0"/>
          </a:p>
          <a:p>
            <a:pPr marL="0" indent="0">
              <a:buNone/>
            </a:pPr>
            <a:r>
              <a:rPr lang="en-US" sz="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 classic benchmark for AI search algorithms.</a:t>
            </a:r>
            <a:endParaRPr lang="en-US" sz="1300" dirty="0"/>
          </a:p>
          <a:p>
            <a:pPr marL="0" indent="0">
              <a:buNone/>
            </a:pPr>
            <a:r>
              <a:rPr lang="en-US" sz="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Requires an intelligent strategy to solve efficiently.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754880" y="1005840"/>
            <a:ext cx="1975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891B2"/>
                </a:solidFill>
              </a:rPr>
              <a:t>Initial State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417320"/>
            <a:ext cx="612648" cy="612648"/>
          </a:xfrm>
          <a:prstGeom prst="rect">
            <a:avLst/>
          </a:prstGeom>
          <a:solidFill>
            <a:srgbClr val="0891B2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1508760"/>
            <a:ext cx="612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413248" y="1417320"/>
            <a:ext cx="612648" cy="612648"/>
          </a:xfrm>
          <a:prstGeom prst="rect">
            <a:avLst/>
          </a:prstGeom>
          <a:solidFill>
            <a:srgbClr val="0891B2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13248" y="1508760"/>
            <a:ext cx="612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6071616" y="1417320"/>
            <a:ext cx="612648" cy="612648"/>
          </a:xfrm>
          <a:prstGeom prst="rect">
            <a:avLst/>
          </a:prstGeom>
          <a:solidFill>
            <a:srgbClr val="0891B2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71616" y="1508760"/>
            <a:ext cx="612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754880" y="2075688"/>
            <a:ext cx="612648" cy="612648"/>
          </a:xfrm>
          <a:prstGeom prst="rect">
            <a:avLst/>
          </a:prstGeom>
          <a:solidFill>
            <a:srgbClr val="0891B2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2167128"/>
            <a:ext cx="612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4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5413248" y="2752696"/>
            <a:ext cx="612648" cy="612648"/>
          </a:xfrm>
          <a:prstGeom prst="rect">
            <a:avLst/>
          </a:prstGeom>
          <a:solidFill>
            <a:srgbClr val="0891B2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13248" y="2167128"/>
            <a:ext cx="612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6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6071616" y="2075688"/>
            <a:ext cx="612648" cy="612648"/>
          </a:xfrm>
          <a:prstGeom prst="rect">
            <a:avLst/>
          </a:prstGeom>
          <a:solidFill>
            <a:srgbClr val="0891B2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71616" y="2167128"/>
            <a:ext cx="612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6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4754880" y="2734056"/>
            <a:ext cx="612648" cy="612648"/>
          </a:xfrm>
          <a:prstGeom prst="rect">
            <a:avLst/>
          </a:prstGeom>
          <a:solidFill>
            <a:srgbClr val="0891B2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2825496"/>
            <a:ext cx="612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7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5422392" y="2087998"/>
            <a:ext cx="612648" cy="612648"/>
          </a:xfrm>
          <a:prstGeom prst="rect">
            <a:avLst/>
          </a:prstGeom>
          <a:solidFill>
            <a:srgbClr val="E2EFF5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71616" y="2734056"/>
            <a:ext cx="612648" cy="612648"/>
          </a:xfrm>
          <a:prstGeom prst="rect">
            <a:avLst/>
          </a:prstGeom>
          <a:solidFill>
            <a:srgbClr val="0891B2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61417" y="2838860"/>
            <a:ext cx="612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8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7132320" y="1005840"/>
            <a:ext cx="1975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B981"/>
                </a:solidFill>
              </a:rPr>
              <a:t>Goal State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132320" y="1417320"/>
            <a:ext cx="612648" cy="612648"/>
          </a:xfrm>
          <a:prstGeom prst="rect">
            <a:avLst/>
          </a:prstGeom>
          <a:solidFill>
            <a:srgbClr val="10B981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32320" y="1508760"/>
            <a:ext cx="612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7790688" y="1417320"/>
            <a:ext cx="612648" cy="612648"/>
          </a:xfrm>
          <a:prstGeom prst="rect">
            <a:avLst/>
          </a:prstGeom>
          <a:solidFill>
            <a:srgbClr val="10B981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90688" y="1508760"/>
            <a:ext cx="612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30" name="Shape 28"/>
          <p:cNvSpPr/>
          <p:nvPr/>
        </p:nvSpPr>
        <p:spPr>
          <a:xfrm>
            <a:off x="8449056" y="1417320"/>
            <a:ext cx="612648" cy="612648"/>
          </a:xfrm>
          <a:prstGeom prst="rect">
            <a:avLst/>
          </a:prstGeom>
          <a:solidFill>
            <a:srgbClr val="10B981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449056" y="1508760"/>
            <a:ext cx="612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32" name="Shape 30"/>
          <p:cNvSpPr/>
          <p:nvPr/>
        </p:nvSpPr>
        <p:spPr>
          <a:xfrm>
            <a:off x="7132320" y="2075688"/>
            <a:ext cx="612648" cy="612648"/>
          </a:xfrm>
          <a:prstGeom prst="rect">
            <a:avLst/>
          </a:prstGeom>
          <a:solidFill>
            <a:srgbClr val="10B981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32320" y="2167128"/>
            <a:ext cx="612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4</a:t>
            </a:r>
            <a:endParaRPr lang="en-US" sz="2200" dirty="0"/>
          </a:p>
        </p:txBody>
      </p:sp>
      <p:sp>
        <p:nvSpPr>
          <p:cNvPr id="34" name="Shape 32"/>
          <p:cNvSpPr/>
          <p:nvPr/>
        </p:nvSpPr>
        <p:spPr>
          <a:xfrm>
            <a:off x="7790688" y="2075688"/>
            <a:ext cx="612648" cy="612648"/>
          </a:xfrm>
          <a:prstGeom prst="rect">
            <a:avLst/>
          </a:prstGeom>
          <a:solidFill>
            <a:srgbClr val="10B981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90688" y="2167128"/>
            <a:ext cx="612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5</a:t>
            </a:r>
            <a:endParaRPr lang="en-US" sz="2200" dirty="0"/>
          </a:p>
        </p:txBody>
      </p:sp>
      <p:sp>
        <p:nvSpPr>
          <p:cNvPr id="36" name="Shape 34"/>
          <p:cNvSpPr/>
          <p:nvPr/>
        </p:nvSpPr>
        <p:spPr>
          <a:xfrm>
            <a:off x="8449056" y="2075688"/>
            <a:ext cx="612648" cy="612648"/>
          </a:xfrm>
          <a:prstGeom prst="rect">
            <a:avLst/>
          </a:prstGeom>
          <a:solidFill>
            <a:srgbClr val="10B981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449056" y="2167128"/>
            <a:ext cx="612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6</a:t>
            </a:r>
            <a:endParaRPr lang="en-US" sz="2200" dirty="0"/>
          </a:p>
        </p:txBody>
      </p:sp>
      <p:sp>
        <p:nvSpPr>
          <p:cNvPr id="38" name="Shape 36"/>
          <p:cNvSpPr/>
          <p:nvPr/>
        </p:nvSpPr>
        <p:spPr>
          <a:xfrm>
            <a:off x="7132320" y="2734056"/>
            <a:ext cx="612648" cy="612648"/>
          </a:xfrm>
          <a:prstGeom prst="rect">
            <a:avLst/>
          </a:prstGeom>
          <a:solidFill>
            <a:srgbClr val="10B981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132320" y="2825496"/>
            <a:ext cx="612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7</a:t>
            </a:r>
            <a:endParaRPr lang="en-US" sz="2200" dirty="0"/>
          </a:p>
        </p:txBody>
      </p:sp>
      <p:sp>
        <p:nvSpPr>
          <p:cNvPr id="40" name="Shape 38"/>
          <p:cNvSpPr/>
          <p:nvPr/>
        </p:nvSpPr>
        <p:spPr>
          <a:xfrm>
            <a:off x="7790688" y="2734056"/>
            <a:ext cx="612648" cy="612648"/>
          </a:xfrm>
          <a:prstGeom prst="rect">
            <a:avLst/>
          </a:prstGeom>
          <a:solidFill>
            <a:srgbClr val="10B981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790688" y="2825496"/>
            <a:ext cx="612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8</a:t>
            </a:r>
            <a:endParaRPr lang="en-US" sz="2200" dirty="0"/>
          </a:p>
        </p:txBody>
      </p:sp>
      <p:sp>
        <p:nvSpPr>
          <p:cNvPr id="42" name="Shape 40"/>
          <p:cNvSpPr/>
          <p:nvPr/>
        </p:nvSpPr>
        <p:spPr>
          <a:xfrm>
            <a:off x="8449056" y="2734056"/>
            <a:ext cx="612648" cy="612648"/>
          </a:xfrm>
          <a:prstGeom prst="rect">
            <a:avLst/>
          </a:prstGeom>
          <a:solidFill>
            <a:srgbClr val="E2EFF5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720840" y="2084832"/>
            <a:ext cx="411480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702552" y="19202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</a:rPr>
              <a:t>→</a:t>
            </a:r>
            <a:endParaRPr lang="en-US" sz="1800" dirty="0"/>
          </a:p>
        </p:txBody>
      </p:sp>
      <p:sp>
        <p:nvSpPr>
          <p:cNvPr id="56" name="Text 22">
            <a:extLst>
              <a:ext uri="{FF2B5EF4-FFF2-40B4-BE49-F238E27FC236}">
                <a16:creationId xmlns:a16="http://schemas.microsoft.com/office/drawing/2014/main" id="{A4F0E8F4-6327-95A5-FC03-409AA39AE2EF}"/>
              </a:ext>
            </a:extLst>
          </p:cNvPr>
          <p:cNvSpPr/>
          <p:nvPr/>
        </p:nvSpPr>
        <p:spPr>
          <a:xfrm>
            <a:off x="5403049" y="2820925"/>
            <a:ext cx="612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5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Representation &amp; Move Generation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41148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4114800" cy="457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78408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State Representation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" y="1668780"/>
            <a:ext cx="54864" cy="3840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3504" y="176022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100" dirty="0">
                <a:solidFill>
                  <a:srgbClr val="00B0F0"/>
                </a:solidFill>
              </a:rPr>
              <a:t>A </a:t>
            </a:r>
            <a:r>
              <a:rPr lang="en-IN" sz="1100" b="1" dirty="0">
                <a:solidFill>
                  <a:srgbClr val="00B0F0"/>
                </a:solidFill>
              </a:rPr>
              <a:t>state</a:t>
            </a:r>
            <a:r>
              <a:rPr lang="en-IN" sz="1100" dirty="0">
                <a:solidFill>
                  <a:srgbClr val="00B0F0"/>
                </a:solidFill>
              </a:rPr>
              <a:t> represents the current arrangement of the tiles and the blank space in the puzzle.</a:t>
            </a:r>
            <a:endParaRPr lang="en-US" sz="1100" dirty="0">
              <a:solidFill>
                <a:srgbClr val="00B0F0"/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98116" y="2579311"/>
            <a:ext cx="54864" cy="3840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3504" y="252093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200" dirty="0">
                <a:solidFill>
                  <a:srgbClr val="00B0F0"/>
                </a:solidFill>
              </a:rPr>
              <a:t>Why State Representation is Important?</a:t>
            </a:r>
            <a:endParaRPr lang="en-US" sz="1200" dirty="0">
              <a:solidFill>
                <a:srgbClr val="00B0F0"/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603504" y="300556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100" dirty="0">
                <a:solidFill>
                  <a:srgbClr val="00B0F0"/>
                </a:solidFill>
              </a:rPr>
              <a:t>Helps store puzzle configurations efficiently. Enables easy comparison between states. Supports tracking of visited states. Facilitates implementation of search algorithms such as BFS, DFS, and A*.</a:t>
            </a:r>
            <a:endParaRPr lang="en-US" sz="1100" dirty="0">
              <a:solidFill>
                <a:srgbClr val="00B0F0"/>
              </a:solidFill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709160" y="960120"/>
            <a:ext cx="41148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9160" y="960120"/>
            <a:ext cx="4114800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978408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Move Generation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846320" y="15087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Blank tile at (r,c) can slide: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800600" y="1965960"/>
            <a:ext cx="1874520" cy="914400"/>
          </a:xfrm>
          <a:prstGeom prst="rect">
            <a:avLst/>
          </a:prstGeom>
          <a:solidFill>
            <a:srgbClr val="0891B2">
              <a:alpha val="12000"/>
            </a:srgbClr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73752" y="200253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</a:rPr>
              <a:t>UP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73752" y="224028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34155"/>
                </a:solidFill>
              </a:rPr>
              <a:t>row &gt; 0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73752" y="247802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(r,c) ↔ (r-1,c)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812280" y="1965960"/>
            <a:ext cx="1874520" cy="914400"/>
          </a:xfrm>
          <a:prstGeom prst="rect">
            <a:avLst/>
          </a:prstGeom>
          <a:solidFill>
            <a:srgbClr val="10B981">
              <a:alpha val="12000"/>
            </a:srgbClr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85432" y="200253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</a:rPr>
              <a:t>DOWN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885432" y="224028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34155"/>
                </a:solidFill>
              </a:rPr>
              <a:t>row &lt; 2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885432" y="247802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(r,c) ↔ (r+1,c)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00600" y="3017520"/>
            <a:ext cx="1874520" cy="914400"/>
          </a:xfrm>
          <a:prstGeom prst="rect">
            <a:avLst/>
          </a:prstGeom>
          <a:solidFill>
            <a:srgbClr val="F59E0B">
              <a:alpha val="12000"/>
            </a:srgbClr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73752" y="305409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</a:rPr>
              <a:t>LEFT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873752" y="329184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34155"/>
                </a:solidFill>
              </a:rPr>
              <a:t>col &gt; 0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873752" y="352958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(r,c) ↔ (r,c-1)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812280" y="3017520"/>
            <a:ext cx="1874520" cy="914400"/>
          </a:xfrm>
          <a:prstGeom prst="rect">
            <a:avLst/>
          </a:prstGeom>
          <a:solidFill>
            <a:srgbClr val="8B5CF6">
              <a:alpha val="12000"/>
            </a:srgbClr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85432" y="305409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5CF6"/>
                </a:solidFill>
              </a:rPr>
              <a:t>RIGHT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885432" y="329184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34155"/>
                </a:solidFill>
              </a:rPr>
              <a:t>col &lt; 2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885432" y="352958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(r,c) ↔ (r,c+1)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1 — Breadth-First Search (BFS)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 flipV="1">
            <a:off x="2250479" y="1287194"/>
            <a:ext cx="914400" cy="493776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75184" y="1255893"/>
            <a:ext cx="759656" cy="467751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1271016" y="2041839"/>
            <a:ext cx="676656" cy="468629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40864" y="2023066"/>
            <a:ext cx="649224" cy="605788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3941064" y="2007722"/>
            <a:ext cx="420624" cy="532464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30381" y="1900105"/>
            <a:ext cx="531407" cy="650455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182639" y="1042416"/>
            <a:ext cx="502920" cy="41148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9544" y="109270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920240" y="1744659"/>
            <a:ext cx="457200" cy="41148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29384" y="1769364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A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279919" y="1639503"/>
            <a:ext cx="457200" cy="41148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0" y="166420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B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046988" y="2487168"/>
            <a:ext cx="420624" cy="411480"/>
          </a:xfrm>
          <a:prstGeom prst="ellipse">
            <a:avLst/>
          </a:prstGeom>
          <a:solidFill>
            <a:srgbClr val="B0D8E8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46988" y="2496312"/>
            <a:ext cx="420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</a:rPr>
              <a:t>C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811780" y="2627447"/>
            <a:ext cx="420624" cy="411480"/>
          </a:xfrm>
          <a:prstGeom prst="ellipse">
            <a:avLst/>
          </a:prstGeom>
          <a:solidFill>
            <a:srgbClr val="B0D8E8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811780" y="2628854"/>
            <a:ext cx="420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</a:rPr>
              <a:t>D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685559" y="2550561"/>
            <a:ext cx="420624" cy="411480"/>
          </a:xfrm>
          <a:prstGeom prst="ellipse">
            <a:avLst/>
          </a:prstGeom>
          <a:solidFill>
            <a:srgbClr val="B0D8E8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16772" y="2583886"/>
            <a:ext cx="420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</a:rPr>
              <a:t>E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937496" y="2540186"/>
            <a:ext cx="502920" cy="4114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68709" y="255821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G✓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74320" y="10515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0F0"/>
                </a:solidFill>
              </a:rPr>
              <a:t>Level 0</a:t>
            </a:r>
            <a:endParaRPr lang="en-US" sz="1100" dirty="0">
              <a:solidFill>
                <a:srgbClr val="00B0F0"/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274320" y="17830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</a:rPr>
              <a:t>Level 1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74320" y="25603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0F0"/>
                </a:solidFill>
              </a:rPr>
              <a:t>Level 2</a:t>
            </a:r>
            <a:endParaRPr lang="en-US" sz="1100" dirty="0">
              <a:solidFill>
                <a:srgbClr val="00B0F0"/>
              </a:solidFill>
            </a:endParaRPr>
          </a:p>
        </p:txBody>
      </p:sp>
      <p:sp>
        <p:nvSpPr>
          <p:cNvPr id="27" name="Shape 25"/>
          <p:cNvSpPr/>
          <p:nvPr/>
        </p:nvSpPr>
        <p:spPr>
          <a:xfrm>
            <a:off x="320040" y="3246120"/>
            <a:ext cx="4114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57200" y="32918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</a:rPr>
              <a:t>Properties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7200" y="367588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</a:rPr>
              <a:t>Completeness: </a:t>
            </a:r>
            <a:r>
              <a:rPr lang="en-US" sz="1100" dirty="0">
                <a:solidFill>
                  <a:srgbClr val="94A3B8"/>
                </a:solidFill>
              </a:rPr>
              <a:t>✓ Always finds a solution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394106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</a:rPr>
              <a:t>Optimality: </a:t>
            </a:r>
            <a:r>
              <a:rPr lang="en-US" sz="1100" dirty="0">
                <a:solidFill>
                  <a:srgbClr val="94A3B8"/>
                </a:solidFill>
              </a:rPr>
              <a:t>✓ Finds shortest path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42062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</a:rPr>
              <a:t>Time Complexity: </a:t>
            </a:r>
            <a:r>
              <a:rPr lang="en-US" sz="1100" dirty="0">
                <a:solidFill>
                  <a:srgbClr val="94A3B8"/>
                </a:solidFill>
              </a:rPr>
              <a:t>O(b^d) — exponential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" y="447141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</a:rPr>
              <a:t>Space Complexity: </a:t>
            </a:r>
            <a:r>
              <a:rPr lang="en-US" sz="1100" dirty="0">
                <a:solidFill>
                  <a:srgbClr val="94A3B8"/>
                </a:solidFill>
              </a:rPr>
              <a:t>O(b^d) — stores all nodes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685986" y="1287194"/>
            <a:ext cx="3183694" cy="3495820"/>
          </a:xfrm>
          <a:prstGeom prst="rect">
            <a:avLst/>
          </a:prstGeom>
          <a:solidFill>
            <a:srgbClr val="0D1B2A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sz="1200" dirty="0">
              <a:solidFill>
                <a:schemeClr val="bg1"/>
              </a:solidFill>
            </a:endParaRPr>
          </a:p>
          <a:p>
            <a:r>
              <a:rPr lang="en-US" sz="1200" dirty="0">
                <a:solidFill>
                  <a:schemeClr val="bg1"/>
                </a:solidFill>
              </a:rPr>
              <a:t>BFS(Start, Goal)</a:t>
            </a:r>
          </a:p>
          <a:p>
            <a:r>
              <a:rPr lang="en-US" sz="1200" dirty="0">
                <a:solidFill>
                  <a:schemeClr val="bg1"/>
                </a:solidFill>
              </a:rPr>
              <a:t>1. Create an empty Queue Q</a:t>
            </a:r>
          </a:p>
          <a:p>
            <a:r>
              <a:rPr lang="en-US" sz="1200" dirty="0">
                <a:solidFill>
                  <a:schemeClr val="bg1"/>
                </a:solidFill>
              </a:rPr>
              <a:t>2. Create an empty set Visited</a:t>
            </a:r>
          </a:p>
          <a:p>
            <a:r>
              <a:rPr lang="en-US" sz="1200" dirty="0">
                <a:solidFill>
                  <a:schemeClr val="bg1"/>
                </a:solidFill>
              </a:rPr>
              <a:t>3. Enqueue(Start, Q)</a:t>
            </a:r>
          </a:p>
          <a:p>
            <a:r>
              <a:rPr lang="en-US" sz="1200" dirty="0">
                <a:solidFill>
                  <a:schemeClr val="bg1"/>
                </a:solidFill>
              </a:rPr>
              <a:t>4. Add Start to Visited</a:t>
            </a:r>
          </a:p>
          <a:p>
            <a:r>
              <a:rPr lang="en-US" sz="1200" dirty="0">
                <a:solidFill>
                  <a:schemeClr val="bg1"/>
                </a:solidFill>
              </a:rPr>
              <a:t>5. While Q is not empty do</a:t>
            </a:r>
          </a:p>
          <a:p>
            <a:r>
              <a:rPr lang="en-US" sz="1200" dirty="0">
                <a:solidFill>
                  <a:schemeClr val="bg1"/>
                </a:solidFill>
              </a:rPr>
              <a:t>      Node ← Dequeue(Q)</a:t>
            </a:r>
          </a:p>
          <a:p>
            <a:endParaRPr lang="en-US" sz="1200" dirty="0">
              <a:solidFill>
                <a:schemeClr val="bg1"/>
              </a:solidFill>
            </a:endParaRPr>
          </a:p>
          <a:p>
            <a:r>
              <a:rPr lang="en-US" sz="1200" dirty="0">
                <a:solidFill>
                  <a:schemeClr val="bg1"/>
                </a:solidFill>
              </a:rPr>
              <a:t>      If Node = Goal then</a:t>
            </a:r>
          </a:p>
          <a:p>
            <a:r>
              <a:rPr lang="en-US" sz="1200" dirty="0">
                <a:solidFill>
                  <a:schemeClr val="bg1"/>
                </a:solidFill>
              </a:rPr>
              <a:t>            Return "Goal Found"</a:t>
            </a:r>
          </a:p>
          <a:p>
            <a:endParaRPr lang="en-US" sz="1200" dirty="0">
              <a:solidFill>
                <a:schemeClr val="bg1"/>
              </a:solidFill>
            </a:endParaRPr>
          </a:p>
          <a:p>
            <a:r>
              <a:rPr lang="en-US" sz="1200" dirty="0">
                <a:solidFill>
                  <a:schemeClr val="bg1"/>
                </a:solidFill>
              </a:rPr>
              <a:t>      For each Child of Node do</a:t>
            </a:r>
          </a:p>
          <a:p>
            <a:r>
              <a:rPr lang="en-US" sz="1200" dirty="0">
                <a:solidFill>
                  <a:schemeClr val="bg1"/>
                </a:solidFill>
              </a:rPr>
              <a:t>            If Child is not in Visited then</a:t>
            </a:r>
          </a:p>
          <a:p>
            <a:r>
              <a:rPr lang="en-US" sz="1200" dirty="0">
                <a:solidFill>
                  <a:schemeClr val="bg1"/>
                </a:solidFill>
              </a:rPr>
              <a:t>                  Add Child to Visited</a:t>
            </a:r>
          </a:p>
          <a:p>
            <a:r>
              <a:rPr lang="en-US" sz="1200" dirty="0">
                <a:solidFill>
                  <a:schemeClr val="bg1"/>
                </a:solidFill>
              </a:rPr>
              <a:t>                  Enqueue(Child, Q)</a:t>
            </a:r>
          </a:p>
          <a:p>
            <a:r>
              <a:rPr lang="en-US" sz="1200" dirty="0">
                <a:solidFill>
                  <a:schemeClr val="bg1"/>
                </a:solidFill>
              </a:rPr>
              <a:t>6. Return "Goal Not Found"</a:t>
            </a:r>
            <a:endParaRPr lang="en-IN" sz="1200" dirty="0">
              <a:solidFill>
                <a:schemeClr val="bg1"/>
              </a:solidFill>
            </a:endParaRPr>
          </a:p>
        </p:txBody>
      </p:sp>
      <p:sp>
        <p:nvSpPr>
          <p:cNvPr id="34" name="Text 32"/>
          <p:cNvSpPr/>
          <p:nvPr/>
        </p:nvSpPr>
        <p:spPr>
          <a:xfrm>
            <a:off x="5685986" y="963769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</a:rPr>
              <a:t>Pseudocode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800600" y="3657600"/>
            <a:ext cx="3654083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2 — Depth-First Search (DFS)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 flipV="1">
            <a:off x="3063240" y="1234440"/>
            <a:ext cx="438912" cy="539496"/>
          </a:xfrm>
          <a:prstGeom prst="line">
            <a:avLst/>
          </a:prstGeom>
          <a:noFill/>
          <a:ln w="31750">
            <a:solidFill>
              <a:srgbClr val="8B5C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959352" y="1191182"/>
            <a:ext cx="612648" cy="582754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2322576" y="1993392"/>
            <a:ext cx="566928" cy="493776"/>
          </a:xfrm>
          <a:prstGeom prst="line">
            <a:avLst/>
          </a:prstGeom>
          <a:noFill/>
          <a:ln w="31750">
            <a:solidFill>
              <a:srgbClr val="8B5C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63240" y="1965960"/>
            <a:ext cx="637970" cy="55198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H="1">
            <a:off x="1730322" y="2740034"/>
            <a:ext cx="379831" cy="311423"/>
          </a:xfrm>
          <a:prstGeom prst="line">
            <a:avLst/>
          </a:prstGeom>
          <a:noFill/>
          <a:ln w="31750">
            <a:solidFill>
              <a:srgbClr val="8B5C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H="1" flipV="1">
            <a:off x="3936844" y="2792347"/>
            <a:ext cx="251108" cy="367960"/>
          </a:xfrm>
          <a:prstGeom prst="line">
            <a:avLst/>
          </a:prstGeom>
          <a:noFill/>
          <a:ln w="3175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0" name="Shape 8"/>
          <p:cNvSpPr/>
          <p:nvPr/>
        </p:nvSpPr>
        <p:spPr>
          <a:xfrm>
            <a:off x="3483864" y="937260"/>
            <a:ext cx="475488" cy="41148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02152" y="954316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701876" y="1728392"/>
            <a:ext cx="475488" cy="41148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01876" y="1737360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A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421124" y="1668780"/>
            <a:ext cx="475488" cy="411480"/>
          </a:xfrm>
          <a:prstGeom prst="ellipse">
            <a:avLst/>
          </a:prstGeom>
          <a:solidFill>
            <a:srgbClr val="94A3B8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43279" y="1699114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</a:rPr>
              <a:t>B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010273" y="2395728"/>
            <a:ext cx="475488" cy="41148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12735" y="2437316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561236" y="2448482"/>
            <a:ext cx="475488" cy="411480"/>
          </a:xfrm>
          <a:prstGeom prst="ellipse">
            <a:avLst/>
          </a:prstGeom>
          <a:solidFill>
            <a:srgbClr val="CCCCCC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61236" y="2483124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</a:rPr>
              <a:t>D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1351554" y="3031236"/>
            <a:ext cx="475488" cy="41148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65095" y="3025081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E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076645" y="3130062"/>
            <a:ext cx="548640" cy="4114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098976" y="3150064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G✓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74320" y="3794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</a:rPr>
              <a:t>DFS dives deep, exploring one branch fully before backtracking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96127" y="3699803"/>
            <a:ext cx="3963572" cy="1280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27777" y="3394183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5CF6"/>
                </a:solidFill>
              </a:rPr>
              <a:t>Properties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7200" y="37033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</a:rPr>
              <a:t>Completeness: </a:t>
            </a:r>
            <a:r>
              <a:rPr lang="en-US" sz="1100" dirty="0">
                <a:solidFill>
                  <a:srgbClr val="94A3B8"/>
                </a:solidFill>
              </a:rPr>
              <a:t>✗ May loop (depth limit needed)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39776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</a:rPr>
              <a:t>Optimality: </a:t>
            </a:r>
            <a:r>
              <a:rPr lang="en-US" sz="1100" dirty="0">
                <a:solidFill>
                  <a:srgbClr val="94A3B8"/>
                </a:solidFill>
              </a:rPr>
              <a:t>✗ Not guaranteed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42519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</a:rPr>
              <a:t>Time Complexity: </a:t>
            </a:r>
            <a:r>
              <a:rPr lang="en-US" sz="1100" dirty="0">
                <a:solidFill>
                  <a:srgbClr val="94A3B8"/>
                </a:solidFill>
              </a:rPr>
              <a:t>O(b^m) — m = max depth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45262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</a:rPr>
              <a:t>Space Complexity: </a:t>
            </a:r>
            <a:r>
              <a:rPr lang="en-US" sz="1100" dirty="0">
                <a:solidFill>
                  <a:srgbClr val="94A3B8"/>
                </a:solidFill>
              </a:rPr>
              <a:t>O(b·m) — linear in depth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851809" y="1209470"/>
            <a:ext cx="2917467" cy="3316810"/>
          </a:xfrm>
          <a:prstGeom prst="rect">
            <a:avLst/>
          </a:prstGeom>
          <a:solidFill>
            <a:srgbClr val="0D1B2A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851809" y="88824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5CF6"/>
                </a:solidFill>
              </a:rPr>
              <a:t>Pseudocode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122960" y="1104755"/>
            <a:ext cx="384048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chemeClr val="bg1"/>
                </a:solidFill>
              </a:rPr>
              <a:t>DFS(start, goal)</a:t>
            </a:r>
          </a:p>
          <a:p>
            <a:endParaRPr lang="en-US" sz="1000" dirty="0">
              <a:solidFill>
                <a:schemeClr val="bg1"/>
              </a:solidFill>
            </a:endParaRPr>
          </a:p>
          <a:p>
            <a:r>
              <a:rPr lang="en-US" sz="1000" dirty="0">
                <a:solidFill>
                  <a:schemeClr val="bg1"/>
                </a:solidFill>
              </a:rPr>
              <a:t>1. Create an empty stack</a:t>
            </a:r>
          </a:p>
          <a:p>
            <a:r>
              <a:rPr lang="en-US" sz="1000" dirty="0">
                <a:solidFill>
                  <a:schemeClr val="bg1"/>
                </a:solidFill>
              </a:rPr>
              <a:t>2. Push start onto the stack</a:t>
            </a:r>
          </a:p>
          <a:p>
            <a:r>
              <a:rPr lang="en-US" sz="1000" dirty="0">
                <a:solidFill>
                  <a:schemeClr val="bg1"/>
                </a:solidFill>
              </a:rPr>
              <a:t>3. Create an empty set visited</a:t>
            </a:r>
          </a:p>
          <a:p>
            <a:endParaRPr lang="en-US" sz="1000" dirty="0">
              <a:solidFill>
                <a:schemeClr val="bg1"/>
              </a:solidFill>
            </a:endParaRPr>
          </a:p>
          <a:p>
            <a:r>
              <a:rPr lang="en-US" sz="1000" dirty="0">
                <a:solidFill>
                  <a:schemeClr val="bg1"/>
                </a:solidFill>
              </a:rPr>
              <a:t>4. While stack is not empty:</a:t>
            </a:r>
          </a:p>
          <a:p>
            <a:r>
              <a:rPr lang="en-US" sz="1000" dirty="0">
                <a:solidFill>
                  <a:schemeClr val="bg1"/>
                </a:solidFill>
              </a:rPr>
              <a:t>      node = Pop from stack</a:t>
            </a:r>
          </a:p>
          <a:p>
            <a:endParaRPr lang="en-US" sz="1000" dirty="0">
              <a:solidFill>
                <a:schemeClr val="bg1"/>
              </a:solidFill>
            </a:endParaRPr>
          </a:p>
          <a:p>
            <a:r>
              <a:rPr lang="en-US" sz="1000" dirty="0">
                <a:solidFill>
                  <a:schemeClr val="bg1"/>
                </a:solidFill>
              </a:rPr>
              <a:t>      If node is not in visited:</a:t>
            </a:r>
          </a:p>
          <a:p>
            <a:r>
              <a:rPr lang="en-US" sz="1000" dirty="0">
                <a:solidFill>
                  <a:schemeClr val="bg1"/>
                </a:solidFill>
              </a:rPr>
              <a:t>            Add node to visited</a:t>
            </a:r>
          </a:p>
          <a:p>
            <a:endParaRPr lang="en-US" sz="1000" dirty="0">
              <a:solidFill>
                <a:schemeClr val="bg1"/>
              </a:solidFill>
            </a:endParaRPr>
          </a:p>
          <a:p>
            <a:r>
              <a:rPr lang="en-US" sz="1000" dirty="0">
                <a:solidFill>
                  <a:schemeClr val="bg1"/>
                </a:solidFill>
              </a:rPr>
              <a:t>            If node = goal:</a:t>
            </a:r>
          </a:p>
          <a:p>
            <a:r>
              <a:rPr lang="en-US" sz="1000" dirty="0">
                <a:solidFill>
                  <a:schemeClr val="bg1"/>
                </a:solidFill>
              </a:rPr>
              <a:t>                  Return "Goal Found"</a:t>
            </a:r>
          </a:p>
          <a:p>
            <a:endParaRPr lang="en-US" sz="1000" dirty="0">
              <a:solidFill>
                <a:schemeClr val="bg1"/>
              </a:solidFill>
            </a:endParaRPr>
          </a:p>
          <a:p>
            <a:r>
              <a:rPr lang="en-US" sz="1000" dirty="0">
                <a:solidFill>
                  <a:schemeClr val="bg1"/>
                </a:solidFill>
              </a:rPr>
              <a:t>            For each child of node in reverse order:</a:t>
            </a:r>
          </a:p>
          <a:p>
            <a:r>
              <a:rPr lang="en-US" sz="1000" dirty="0">
                <a:solidFill>
                  <a:schemeClr val="bg1"/>
                </a:solidFill>
              </a:rPr>
              <a:t>                  Push child onto stack</a:t>
            </a:r>
          </a:p>
          <a:p>
            <a:endParaRPr lang="en-US" sz="1000" dirty="0">
              <a:solidFill>
                <a:schemeClr val="bg1"/>
              </a:solidFill>
            </a:endParaRPr>
          </a:p>
          <a:p>
            <a:r>
              <a:rPr lang="en-US" sz="1000" dirty="0">
                <a:solidFill>
                  <a:schemeClr val="bg1"/>
                </a:solidFill>
              </a:rPr>
              <a:t>5. Return "Goal Not Found"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3 — A* Search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850392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5156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f(n)  =  </a:t>
            </a:r>
            <a:r>
              <a:rPr lang="en-US" sz="2600" b="1" dirty="0">
                <a:solidFill>
                  <a:srgbClr val="06B6D4"/>
                </a:solidFill>
              </a:rPr>
              <a:t>g(n)</a:t>
            </a:r>
            <a:r>
              <a:rPr lang="en-US" sz="2600" dirty="0">
                <a:solidFill>
                  <a:srgbClr val="FFFFFF"/>
                </a:solidFill>
              </a:rPr>
              <a:t>  +  </a:t>
            </a:r>
            <a:r>
              <a:rPr lang="en-US" sz="2600" b="1" dirty="0">
                <a:solidFill>
                  <a:srgbClr val="F59E0B"/>
                </a:solidFill>
              </a:rPr>
              <a:t>h(n)</a:t>
            </a:r>
            <a:r>
              <a:rPr lang="en-US" sz="1300" dirty="0">
                <a:solidFill>
                  <a:srgbClr val="94A3B8"/>
                </a:solidFill>
              </a:rPr>
              <a:t>     </a:t>
            </a:r>
          </a:p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</a:rPr>
              <a:t>                  =Actual Cost from Start  + Heuristic to Goal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2057400"/>
            <a:ext cx="2788920" cy="1325880"/>
          </a:xfrm>
          <a:prstGeom prst="rect">
            <a:avLst/>
          </a:prstGeom>
          <a:solidFill>
            <a:srgbClr val="FFFFFF"/>
          </a:solidFill>
          <a:ln w="25400">
            <a:solidFill>
              <a:srgbClr val="06B6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2057400"/>
            <a:ext cx="2788920" cy="38404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207568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g(n) — Cost So Far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2487168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Exact number of moves from the start state to current node n. Always accurate.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2057400"/>
            <a:ext cx="2788920" cy="132588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2057400"/>
            <a:ext cx="278892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207568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h(n) — Heuristic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37560" y="2487168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Estimated cost to reach the goal. Must be admissible (never overestimates) for optimal paths.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72200" y="2057400"/>
            <a:ext cx="2788920" cy="1325880"/>
          </a:xfrm>
          <a:prstGeom prst="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72200" y="2057400"/>
            <a:ext cx="2788920" cy="3840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63640" y="207568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f(n) — Priority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63640" y="2487168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Sum used by the priority queue. Nodes with lowest f(n) are expanded first.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3913632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 = PriorityQueue()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open.put((f(start), start))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open: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_, node = open.get()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node == goal: return path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child in successors(node):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f(child) &lt; known_cost: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open.put((f(child), child))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583180" y="3584448"/>
            <a:ext cx="4251960" cy="1371600"/>
          </a:xfrm>
          <a:prstGeom prst="rect">
            <a:avLst/>
          </a:prstGeom>
          <a:solidFill>
            <a:srgbClr val="FFF8E1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74620" y="356616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</a:rPr>
              <a:t>⭐ Why A* is Optimal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674620" y="393192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• Admissible heuristic → never overestimates → optimal path guaranteed.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• Consistent heuristic → closed set can be used safely.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• Explores far fewer nodes than BFS on difficult puzzles.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A7AF27-F5AA-C290-239E-0C0A7538A1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DC623CF-9984-D239-7347-1B37A2CCA27E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1C40C61-4746-DBF7-F369-CE6A242FF657}"/>
              </a:ext>
            </a:extLst>
          </p:cNvPr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3 — A* Search</a:t>
            </a:r>
            <a:endParaRPr lang="en-US" sz="26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1657D810-098B-2274-E25A-42032F47607E}"/>
              </a:ext>
            </a:extLst>
          </p:cNvPr>
          <p:cNvSpPr/>
          <p:nvPr/>
        </p:nvSpPr>
        <p:spPr>
          <a:xfrm>
            <a:off x="411480" y="207568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g(n) — Cost So Far</a:t>
            </a:r>
            <a:endParaRPr lang="en-US" sz="13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10BB49BA-5FA1-88D8-BDBB-4ED92F45EA70}"/>
              </a:ext>
            </a:extLst>
          </p:cNvPr>
          <p:cNvSpPr/>
          <p:nvPr/>
        </p:nvSpPr>
        <p:spPr>
          <a:xfrm>
            <a:off x="3337560" y="207568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h(n) — Heuristic</a:t>
            </a:r>
            <a:endParaRPr lang="en-US" sz="130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51B26679-D473-76CA-31F0-EA391A8AF23C}"/>
              </a:ext>
            </a:extLst>
          </p:cNvPr>
          <p:cNvSpPr/>
          <p:nvPr/>
        </p:nvSpPr>
        <p:spPr>
          <a:xfrm>
            <a:off x="320040" y="1124712"/>
            <a:ext cx="3689251" cy="3524660"/>
          </a:xfrm>
          <a:prstGeom prst="rect">
            <a:avLst/>
          </a:prstGeom>
          <a:solidFill>
            <a:srgbClr val="0D1B2A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63FD648F-51E9-C782-8934-E16796A247AC}"/>
              </a:ext>
            </a:extLst>
          </p:cNvPr>
          <p:cNvSpPr/>
          <p:nvPr/>
        </p:nvSpPr>
        <p:spPr>
          <a:xfrm>
            <a:off x="608428" y="1336432"/>
            <a:ext cx="2285999" cy="259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chemeClr val="bg1"/>
                </a:solidFill>
              </a:rPr>
              <a:t>A_STAR(Start, Goal)</a:t>
            </a:r>
          </a:p>
          <a:p>
            <a:r>
              <a:rPr lang="en-US" sz="1200" dirty="0">
                <a:solidFill>
                  <a:schemeClr val="bg1"/>
                </a:solidFill>
              </a:rPr>
              <a:t>1.OPEN ← Priority Queue</a:t>
            </a:r>
          </a:p>
          <a:p>
            <a:r>
              <a:rPr lang="en-US" sz="1200" dirty="0">
                <a:solidFill>
                  <a:schemeClr val="bg1"/>
                </a:solidFill>
              </a:rPr>
              <a:t>2. CLOSED ← Empty Set</a:t>
            </a:r>
          </a:p>
          <a:p>
            <a:r>
              <a:rPr lang="en-US" sz="1200" dirty="0">
                <a:solidFill>
                  <a:schemeClr val="bg1"/>
                </a:solidFill>
              </a:rPr>
              <a:t>3. g(Start) ← 0</a:t>
            </a:r>
          </a:p>
          <a:p>
            <a:r>
              <a:rPr lang="en-US" sz="1200" dirty="0">
                <a:solidFill>
                  <a:schemeClr val="bg1"/>
                </a:solidFill>
              </a:rPr>
              <a:t>4. f(Start) ← g(Start) + h(Start)</a:t>
            </a:r>
          </a:p>
          <a:p>
            <a:r>
              <a:rPr lang="en-US" sz="1200" dirty="0">
                <a:solidFill>
                  <a:schemeClr val="bg1"/>
                </a:solidFill>
              </a:rPr>
              <a:t>5. Insert Start into OPEN</a:t>
            </a:r>
          </a:p>
          <a:p>
            <a:r>
              <a:rPr lang="en-US" sz="1200" dirty="0">
                <a:solidFill>
                  <a:schemeClr val="bg1"/>
                </a:solidFill>
              </a:rPr>
              <a:t>6. While OPEN is not empty do      </a:t>
            </a:r>
          </a:p>
          <a:p>
            <a:r>
              <a:rPr lang="en-US" sz="1200" dirty="0">
                <a:solidFill>
                  <a:schemeClr val="bg1"/>
                </a:solidFill>
              </a:rPr>
              <a:t>     Current ← Node with lowest f(n)     </a:t>
            </a:r>
          </a:p>
          <a:p>
            <a:r>
              <a:rPr lang="en-US" sz="1200" dirty="0">
                <a:solidFill>
                  <a:schemeClr val="bg1"/>
                </a:solidFill>
              </a:rPr>
              <a:t>     If Current = Goal then           </a:t>
            </a:r>
          </a:p>
          <a:p>
            <a:r>
              <a:rPr lang="en-US" sz="1200" dirty="0">
                <a:solidFill>
                  <a:schemeClr val="bg1"/>
                </a:solidFill>
              </a:rPr>
              <a:t>         Return Path     </a:t>
            </a:r>
          </a:p>
          <a:p>
            <a:r>
              <a:rPr lang="en-US" sz="1200" dirty="0">
                <a:solidFill>
                  <a:schemeClr val="bg1"/>
                </a:solidFill>
              </a:rPr>
              <a:t>     Remove Current from OPEN      </a:t>
            </a:r>
          </a:p>
          <a:p>
            <a:r>
              <a:rPr lang="en-US" sz="1200" dirty="0">
                <a:solidFill>
                  <a:schemeClr val="bg1"/>
                </a:solidFill>
              </a:rPr>
              <a:t>     Add Current to CLOSED</a:t>
            </a:r>
          </a:p>
        </p:txBody>
      </p:sp>
      <p:sp>
        <p:nvSpPr>
          <p:cNvPr id="24" name="Shape 16">
            <a:extLst>
              <a:ext uri="{FF2B5EF4-FFF2-40B4-BE49-F238E27FC236}">
                <a16:creationId xmlns:a16="http://schemas.microsoft.com/office/drawing/2014/main" id="{17760BF4-839D-3D1E-35FD-8C85C37AA904}"/>
              </a:ext>
            </a:extLst>
          </p:cNvPr>
          <p:cNvSpPr/>
          <p:nvPr/>
        </p:nvSpPr>
        <p:spPr>
          <a:xfrm>
            <a:off x="4470009" y="1145110"/>
            <a:ext cx="3921370" cy="3524660"/>
          </a:xfrm>
          <a:prstGeom prst="rect">
            <a:avLst/>
          </a:prstGeom>
          <a:solidFill>
            <a:srgbClr val="0D1B2A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sz="1200" dirty="0">
              <a:solidFill>
                <a:schemeClr val="bg1"/>
              </a:solidFill>
            </a:endParaRPr>
          </a:p>
          <a:p>
            <a:r>
              <a:rPr lang="en-US" sz="1200" dirty="0">
                <a:solidFill>
                  <a:schemeClr val="bg1"/>
                </a:solidFill>
              </a:rPr>
              <a:t>For each Neighbor of Current do</a:t>
            </a:r>
          </a:p>
          <a:p>
            <a:r>
              <a:rPr lang="en-US" sz="1200" dirty="0">
                <a:solidFill>
                  <a:schemeClr val="bg1"/>
                </a:solidFill>
              </a:rPr>
              <a:t>    If Neighbor is in CLOSED then</a:t>
            </a:r>
          </a:p>
          <a:p>
            <a:r>
              <a:rPr lang="en-US" sz="1200" dirty="0">
                <a:solidFill>
                  <a:schemeClr val="bg1"/>
                </a:solidFill>
              </a:rPr>
              <a:t>        Continue</a:t>
            </a:r>
          </a:p>
          <a:p>
            <a:r>
              <a:rPr lang="en-US" sz="1200" dirty="0">
                <a:solidFill>
                  <a:schemeClr val="bg1"/>
                </a:solidFill>
              </a:rPr>
              <a:t>    </a:t>
            </a:r>
            <a:r>
              <a:rPr lang="en-US" sz="1200" dirty="0" err="1">
                <a:solidFill>
                  <a:schemeClr val="bg1"/>
                </a:solidFill>
              </a:rPr>
              <a:t>Tentative_g</a:t>
            </a:r>
            <a:r>
              <a:rPr lang="en-US" sz="1200" dirty="0">
                <a:solidFill>
                  <a:schemeClr val="bg1"/>
                </a:solidFill>
              </a:rPr>
              <a:t> ← g(Current) + Cost(Current, Neighbor)</a:t>
            </a:r>
          </a:p>
          <a:p>
            <a:r>
              <a:rPr lang="en-US" sz="1200" dirty="0">
                <a:solidFill>
                  <a:schemeClr val="bg1"/>
                </a:solidFill>
              </a:rPr>
              <a:t>    If Neighbor is not in OPEN</a:t>
            </a:r>
          </a:p>
          <a:p>
            <a:r>
              <a:rPr lang="en-US" sz="1200" dirty="0">
                <a:solidFill>
                  <a:schemeClr val="bg1"/>
                </a:solidFill>
              </a:rPr>
              <a:t>       OR </a:t>
            </a:r>
            <a:r>
              <a:rPr lang="en-US" sz="1200" dirty="0" err="1">
                <a:solidFill>
                  <a:schemeClr val="bg1"/>
                </a:solidFill>
              </a:rPr>
              <a:t>Tentative_g</a:t>
            </a:r>
            <a:r>
              <a:rPr lang="en-US" sz="1200" dirty="0">
                <a:solidFill>
                  <a:schemeClr val="bg1"/>
                </a:solidFill>
              </a:rPr>
              <a:t> &lt; g(Neighbor) then</a:t>
            </a:r>
          </a:p>
          <a:p>
            <a:r>
              <a:rPr lang="en-US" sz="1200" dirty="0">
                <a:solidFill>
                  <a:schemeClr val="bg1"/>
                </a:solidFill>
              </a:rPr>
              <a:t>        Parent(Neighbor) ← Current</a:t>
            </a:r>
          </a:p>
          <a:p>
            <a:r>
              <a:rPr lang="en-US" sz="1200" dirty="0">
                <a:solidFill>
                  <a:schemeClr val="bg1"/>
                </a:solidFill>
              </a:rPr>
              <a:t>        g(Neighbor) ← </a:t>
            </a:r>
            <a:r>
              <a:rPr lang="en-US" sz="1200" dirty="0" err="1">
                <a:solidFill>
                  <a:schemeClr val="bg1"/>
                </a:solidFill>
              </a:rPr>
              <a:t>Tentative_g</a:t>
            </a:r>
            <a:endParaRPr lang="en-US" sz="1200" dirty="0">
              <a:solidFill>
                <a:schemeClr val="bg1"/>
              </a:solidFill>
            </a:endParaRPr>
          </a:p>
          <a:p>
            <a:r>
              <a:rPr lang="en-US" sz="1200" dirty="0">
                <a:solidFill>
                  <a:schemeClr val="bg1"/>
                </a:solidFill>
              </a:rPr>
              <a:t>        f(Neighbor) ← g(Neighbor) + h(Neighbor)</a:t>
            </a:r>
          </a:p>
          <a:p>
            <a:r>
              <a:rPr lang="en-US" sz="1200" dirty="0">
                <a:solidFill>
                  <a:schemeClr val="bg1"/>
                </a:solidFill>
              </a:rPr>
              <a:t>        If Neighbor is not in OPEN then</a:t>
            </a:r>
          </a:p>
          <a:p>
            <a:r>
              <a:rPr lang="en-US" sz="1200" dirty="0">
                <a:solidFill>
                  <a:schemeClr val="bg1"/>
                </a:solidFill>
              </a:rPr>
              <a:t>            Insert Neighbor into OPEN</a:t>
            </a:r>
          </a:p>
          <a:p>
            <a:r>
              <a:rPr lang="en-US" sz="1200" dirty="0">
                <a:solidFill>
                  <a:schemeClr val="bg1"/>
                </a:solidFill>
              </a:rPr>
              <a:t>7.Return "No Path Found"</a:t>
            </a:r>
            <a:endParaRPr lang="en-IN" sz="1200" dirty="0">
              <a:solidFill>
                <a:schemeClr val="bg1"/>
              </a:solidFill>
            </a:endParaRPr>
          </a:p>
        </p:txBody>
      </p:sp>
      <p:sp>
        <p:nvSpPr>
          <p:cNvPr id="25" name="Text 18">
            <a:extLst>
              <a:ext uri="{FF2B5EF4-FFF2-40B4-BE49-F238E27FC236}">
                <a16:creationId xmlns:a16="http://schemas.microsoft.com/office/drawing/2014/main" id="{17BC5B15-B25B-79A4-2E58-0D59736A1C2B}"/>
              </a:ext>
            </a:extLst>
          </p:cNvPr>
          <p:cNvSpPr/>
          <p:nvPr/>
        </p:nvSpPr>
        <p:spPr>
          <a:xfrm>
            <a:off x="4572000" y="1273127"/>
            <a:ext cx="3030707" cy="2876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69972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Heuristics for A* — Guiding the Search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406908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4069080" cy="47548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H1 — Misplaced Tiles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Count tiles NOT in their goal position (blank excluded).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554480" y="2058103"/>
            <a:ext cx="512064" cy="512064"/>
          </a:xfrm>
          <a:prstGeom prst="rect">
            <a:avLst/>
          </a:prstGeom>
          <a:solidFill>
            <a:srgbClr val="10B981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148840"/>
            <a:ext cx="512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05840" y="2057400"/>
            <a:ext cx="512064" cy="512064"/>
          </a:xfrm>
          <a:prstGeom prst="rect">
            <a:avLst/>
          </a:prstGeom>
          <a:solidFill>
            <a:srgbClr val="10B981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148840"/>
            <a:ext cx="512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61772" y="2057400"/>
            <a:ext cx="512064" cy="512064"/>
          </a:xfrm>
          <a:prstGeom prst="rect">
            <a:avLst/>
          </a:prstGeom>
          <a:solidFill>
            <a:srgbClr val="10B981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54480" y="2148840"/>
            <a:ext cx="512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57200" y="2606040"/>
            <a:ext cx="512064" cy="512064"/>
          </a:xfrm>
          <a:prstGeom prst="rect">
            <a:avLst/>
          </a:prstGeom>
          <a:solidFill>
            <a:srgbClr val="10B981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697480"/>
            <a:ext cx="512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005840" y="3154680"/>
            <a:ext cx="512064" cy="512064"/>
          </a:xfrm>
          <a:prstGeom prst="rect">
            <a:avLst/>
          </a:prstGeom>
          <a:solidFill>
            <a:srgbClr val="EF4444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2697480"/>
            <a:ext cx="512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6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554480" y="2606040"/>
            <a:ext cx="512064" cy="512064"/>
          </a:xfrm>
          <a:prstGeom prst="rect">
            <a:avLst/>
          </a:prstGeom>
          <a:solidFill>
            <a:srgbClr val="10B981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554480" y="2697480"/>
            <a:ext cx="512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6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457200" y="3154680"/>
            <a:ext cx="512064" cy="512064"/>
          </a:xfrm>
          <a:prstGeom prst="rect">
            <a:avLst/>
          </a:prstGeom>
          <a:solidFill>
            <a:srgbClr val="10B981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246120"/>
            <a:ext cx="512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7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005840" y="2596896"/>
            <a:ext cx="512064" cy="512064"/>
          </a:xfrm>
          <a:prstGeom prst="rect">
            <a:avLst/>
          </a:prstGeom>
          <a:solidFill>
            <a:srgbClr val="E2EFF5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554480" y="3154680"/>
            <a:ext cx="512064" cy="512064"/>
          </a:xfrm>
          <a:prstGeom prst="rect">
            <a:avLst/>
          </a:prstGeom>
          <a:solidFill>
            <a:srgbClr val="EF4444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73836" y="3217281"/>
            <a:ext cx="512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57200" y="3749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F4444"/>
                </a:solidFill>
              </a:rPr>
              <a:t>Red = misplaced tiles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4050792"/>
            <a:ext cx="3749040" cy="566928"/>
          </a:xfrm>
          <a:prstGeom prst="rect">
            <a:avLst/>
          </a:prstGeom>
          <a:solidFill>
            <a:srgbClr val="FEF2F2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069080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F4444"/>
                </a:solidFill>
              </a:rPr>
              <a:t>h₁ = 2 misplaced tiles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572000" y="907366"/>
            <a:ext cx="406908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54880" y="960120"/>
            <a:ext cx="4069080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92040" y="1005840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H2 — Manhattan Distance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4892040" y="15087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Sum of |row_curr - row_goal| + |col_curr - col_goal| for each tile.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892040" y="2057400"/>
            <a:ext cx="512064" cy="512064"/>
          </a:xfrm>
          <a:prstGeom prst="rect">
            <a:avLst/>
          </a:prstGeom>
          <a:solidFill>
            <a:srgbClr val="0891B2">
              <a:alpha val="70000"/>
            </a:srgbClr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92040" y="2148840"/>
            <a:ext cx="512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D1B2A"/>
                </a:solidFill>
              </a:rPr>
              <a:t>1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5440680" y="2057400"/>
            <a:ext cx="512064" cy="512064"/>
          </a:xfrm>
          <a:prstGeom prst="rect">
            <a:avLst/>
          </a:prstGeom>
          <a:solidFill>
            <a:srgbClr val="0891B2">
              <a:alpha val="70000"/>
            </a:srgbClr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40680" y="2148840"/>
            <a:ext cx="512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D1B2A"/>
                </a:solidFill>
              </a:rPr>
              <a:t>2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5989320" y="2057400"/>
            <a:ext cx="512064" cy="512064"/>
          </a:xfrm>
          <a:prstGeom prst="rect">
            <a:avLst/>
          </a:prstGeom>
          <a:solidFill>
            <a:srgbClr val="0891B2">
              <a:alpha val="70000"/>
            </a:srgbClr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89320" y="2148840"/>
            <a:ext cx="512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</a:rPr>
              <a:t>3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4892040" y="2606040"/>
            <a:ext cx="512064" cy="512064"/>
          </a:xfrm>
          <a:prstGeom prst="rect">
            <a:avLst/>
          </a:prstGeom>
          <a:solidFill>
            <a:srgbClr val="0891B2">
              <a:alpha val="70000"/>
            </a:srgbClr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92040" y="2697480"/>
            <a:ext cx="512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D1B2A"/>
                </a:solidFill>
              </a:rPr>
              <a:t>4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5440680" y="3160307"/>
            <a:ext cx="512064" cy="512064"/>
          </a:xfrm>
          <a:prstGeom prst="rect">
            <a:avLst/>
          </a:prstGeom>
          <a:solidFill>
            <a:srgbClr val="0891B2">
              <a:alpha val="70000"/>
            </a:srgbClr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989320" y="2606040"/>
            <a:ext cx="512064" cy="512064"/>
          </a:xfrm>
          <a:prstGeom prst="rect">
            <a:avLst/>
          </a:prstGeom>
          <a:solidFill>
            <a:srgbClr val="0891B2">
              <a:alpha val="70000"/>
            </a:srgbClr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989320" y="2697480"/>
            <a:ext cx="512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D1B2A"/>
                </a:solidFill>
              </a:rPr>
              <a:t>6</a:t>
            </a:r>
            <a:endParaRPr lang="en-US" sz="1800" dirty="0"/>
          </a:p>
        </p:txBody>
      </p:sp>
      <p:sp>
        <p:nvSpPr>
          <p:cNvPr id="44" name="Shape 42"/>
          <p:cNvSpPr/>
          <p:nvPr/>
        </p:nvSpPr>
        <p:spPr>
          <a:xfrm>
            <a:off x="4892040" y="3154680"/>
            <a:ext cx="512064" cy="512064"/>
          </a:xfrm>
          <a:prstGeom prst="rect">
            <a:avLst/>
          </a:prstGeom>
          <a:solidFill>
            <a:srgbClr val="0891B2">
              <a:alpha val="70000"/>
            </a:srgbClr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92040" y="3246120"/>
            <a:ext cx="512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D1B2A"/>
                </a:solidFill>
              </a:rPr>
              <a:t>7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5440680" y="2615536"/>
            <a:ext cx="512064" cy="512064"/>
          </a:xfrm>
          <a:prstGeom prst="rect">
            <a:avLst/>
          </a:prstGeom>
          <a:solidFill>
            <a:srgbClr val="E2EFF5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404104" y="3217281"/>
            <a:ext cx="512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</a:rPr>
              <a:t>5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4892040" y="373075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TTile’5’:curr (2,1),Tile‘8’:curr(2,2) → Tile‘5</a:t>
            </a:r>
            <a:r>
              <a:rPr lang="en-US" sz="1000">
                <a:solidFill>
                  <a:srgbClr val="334155"/>
                </a:solidFill>
              </a:rPr>
              <a:t>’:goal </a:t>
            </a:r>
            <a:r>
              <a:rPr lang="en-US" sz="1000" dirty="0">
                <a:solidFill>
                  <a:srgbClr val="334155"/>
                </a:solidFill>
              </a:rPr>
              <a:t>(</a:t>
            </a:r>
            <a:r>
              <a:rPr lang="en-US" sz="1000">
                <a:solidFill>
                  <a:srgbClr val="334155"/>
                </a:solidFill>
              </a:rPr>
              <a:t>1,1)</a:t>
            </a:r>
            <a:r>
              <a:rPr lang="en-US" sz="1000" dirty="0">
                <a:solidFill>
                  <a:srgbClr val="334155"/>
                </a:solidFill>
              </a:rPr>
              <a:t>,</a:t>
            </a:r>
            <a:r>
              <a:rPr lang="en-US" sz="1000">
                <a:solidFill>
                  <a:srgbClr val="334155"/>
                </a:solidFill>
              </a:rPr>
              <a:t>Tile’8</a:t>
            </a:r>
            <a:r>
              <a:rPr lang="en-US" sz="1000" dirty="0">
                <a:solidFill>
                  <a:srgbClr val="334155"/>
                </a:solidFill>
              </a:rPr>
              <a:t>’</a:t>
            </a:r>
            <a:r>
              <a:rPr lang="en-US" sz="1000" dirty="0">
                <a:solidFill>
                  <a:srgbClr val="334155"/>
                </a:solidFill>
                <a:sym typeface="Wingdings" panose="05000000000000000000" pitchFamily="2" charset="2"/>
              </a:rPr>
              <a:t>(2,1)</a:t>
            </a:r>
            <a:r>
              <a:rPr lang="en-US" sz="1000" dirty="0">
                <a:solidFill>
                  <a:srgbClr val="334155"/>
                </a:solidFill>
              </a:rPr>
              <a:t> 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Manhattan distance= (|2-1|+|1-1|)+(|2-2|+2-1|) = 2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892040" y="4050792"/>
            <a:ext cx="3749040" cy="566928"/>
          </a:xfrm>
          <a:prstGeom prst="rect">
            <a:avLst/>
          </a:prstGeom>
          <a:solidFill>
            <a:srgbClr val="FFFBE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92040" y="4069080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</a:rPr>
              <a:t>h₂ = 2 (total Manhattan distance)</a:t>
            </a:r>
            <a:endParaRPr lang="en-US" sz="1400" dirty="0"/>
          </a:p>
        </p:txBody>
      </p:sp>
      <p:sp>
        <p:nvSpPr>
          <p:cNvPr id="53" name="Text 22">
            <a:extLst>
              <a:ext uri="{FF2B5EF4-FFF2-40B4-BE49-F238E27FC236}">
                <a16:creationId xmlns:a16="http://schemas.microsoft.com/office/drawing/2014/main" id="{4B0CCAB7-4C01-DF1F-54BF-5E6C2B478503}"/>
              </a:ext>
            </a:extLst>
          </p:cNvPr>
          <p:cNvSpPr/>
          <p:nvPr/>
        </p:nvSpPr>
        <p:spPr>
          <a:xfrm>
            <a:off x="1544633" y="3221970"/>
            <a:ext cx="512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8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5989320" y="3154680"/>
            <a:ext cx="512064" cy="512064"/>
          </a:xfrm>
          <a:prstGeom prst="rect">
            <a:avLst/>
          </a:prstGeom>
          <a:solidFill>
            <a:srgbClr val="0891B2">
              <a:alpha val="70000"/>
            </a:srgbClr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54" name="Text 33">
            <a:extLst>
              <a:ext uri="{FF2B5EF4-FFF2-40B4-BE49-F238E27FC236}">
                <a16:creationId xmlns:a16="http://schemas.microsoft.com/office/drawing/2014/main" id="{7795B093-7C79-446D-C1CA-2FA62EE1FA6C}"/>
              </a:ext>
            </a:extLst>
          </p:cNvPr>
          <p:cNvSpPr/>
          <p:nvPr/>
        </p:nvSpPr>
        <p:spPr>
          <a:xfrm>
            <a:off x="5952744" y="3179650"/>
            <a:ext cx="512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</a:rPr>
              <a:t>8</a:t>
            </a:r>
            <a:endParaRPr lang="en-US" sz="1800" dirty="0"/>
          </a:p>
        </p:txBody>
      </p:sp>
      <p:sp>
        <p:nvSpPr>
          <p:cNvPr id="55" name="Text 13">
            <a:extLst>
              <a:ext uri="{FF2B5EF4-FFF2-40B4-BE49-F238E27FC236}">
                <a16:creationId xmlns:a16="http://schemas.microsoft.com/office/drawing/2014/main" id="{E5E3B8D3-2679-A5E1-33C0-2E0D5C54B756}"/>
              </a:ext>
            </a:extLst>
          </p:cNvPr>
          <p:cNvSpPr/>
          <p:nvPr/>
        </p:nvSpPr>
        <p:spPr>
          <a:xfrm>
            <a:off x="429768" y="2150012"/>
            <a:ext cx="512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           Performance Comparison</a:t>
            </a:r>
            <a:endParaRPr lang="en-US" sz="2600" dirty="0"/>
          </a:p>
        </p:txBody>
      </p:sp>
      <p:sp>
        <p:nvSpPr>
          <p:cNvPr id="6" name="Shape 2"/>
          <p:cNvSpPr/>
          <p:nvPr/>
        </p:nvSpPr>
        <p:spPr>
          <a:xfrm>
            <a:off x="1086728" y="914400"/>
            <a:ext cx="6843932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4051495" y="936028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</a:rPr>
              <a:t>Summary Table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0778048"/>
              </p:ext>
            </p:extLst>
          </p:nvPr>
        </p:nvGraphicFramePr>
        <p:xfrm>
          <a:off x="1554479" y="1297745"/>
          <a:ext cx="5908431" cy="1371600"/>
        </p:xfrm>
        <a:graphic>
          <a:graphicData uri="http://schemas.openxmlformats.org/drawingml/2006/table">
            <a:tbl>
              <a:tblPr/>
              <a:tblGrid>
                <a:gridCol w="2496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643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75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Algorithm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Optimal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BFS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DFS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✗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✗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A*(H1)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A*(H2)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3031587" y="3017520"/>
            <a:ext cx="2968283" cy="1161288"/>
          </a:xfrm>
          <a:prstGeom prst="rect">
            <a:avLst/>
          </a:prstGeom>
          <a:solidFill>
            <a:srgbClr val="F0FDF4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3348111" y="2988682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</a:rPr>
              <a:t> Winner: A* + Manhattan Distance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3727938" y="3012245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• Optimal &amp; complete
• 250× fewer nodes than BFS
• 200× faster than BFS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Comparison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8761505"/>
              </p:ext>
            </p:extLst>
          </p:nvPr>
        </p:nvGraphicFramePr>
        <p:xfrm>
          <a:off x="274320" y="960120"/>
          <a:ext cx="8595360" cy="3386799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631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Property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BFS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DFS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A* (H1: Misplaced)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A* (H2: Manhattan)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631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Data Structure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Queue (FIFO)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Stack (LIFO)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Priority Queue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Priority Queue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631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Completeness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✓ Yes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✗ No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✓ Yes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✓ Yes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631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Optimality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✓ Yes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✗ No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✓ Yes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✓ Yes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631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Time Complexity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O(bᵈ)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O(bᵐ)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O(bᵈ)†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O(bᵈ)†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631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Space Complexity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O(bᵈ)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O(b·m)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O(bᵈ)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O(bᵈ)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631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Nodes Explored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~37,400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~52,000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~620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~148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631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Solve Time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~820 ms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~1150 ms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~18 ms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~4 ms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631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Heuristic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None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None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Admissible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Admissible + Consistent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65760" y="1088136"/>
            <a:ext cx="411480" cy="41148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06424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10515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B6D4"/>
                </a:solidFill>
              </a:rPr>
              <a:t>State Space Matters  </a:t>
            </a:r>
            <a:r>
              <a:rPr lang="en-US" sz="1200" dirty="0">
                <a:solidFill>
                  <a:srgbClr val="E8F4F8"/>
                </a:solidFill>
              </a:rPr>
              <a:t>8-Puzzle has 181K reachable states. Smart search is essential to avoid brute-force explosion.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865376"/>
            <a:ext cx="411480" cy="41148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883664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18288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B6D4"/>
                </a:solidFill>
              </a:rPr>
              <a:t>BFS = Safe, Slow  </a:t>
            </a:r>
            <a:r>
              <a:rPr lang="en-US" sz="1200" dirty="0">
                <a:solidFill>
                  <a:srgbClr val="E8F4F8"/>
                </a:solidFill>
              </a:rPr>
              <a:t>Guaranteed optimal and complete but memory-intensive. Practical only for shallow solutions.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2642616"/>
            <a:ext cx="411480" cy="41148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660904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26060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B6D4"/>
                </a:solidFill>
              </a:rPr>
              <a:t>DFS = Fast Risk  </a:t>
            </a:r>
            <a:r>
              <a:rPr lang="en-US" sz="1200" dirty="0">
                <a:solidFill>
                  <a:srgbClr val="E8F4F8"/>
                </a:solidFill>
              </a:rPr>
              <a:t>Low memory but may get lost in infinite loops. Use depth-limiting or iterative deepening.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3419856"/>
            <a:ext cx="411480" cy="41148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438144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33832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B6D4"/>
                </a:solidFill>
              </a:rPr>
              <a:t>A* = Best of Both  </a:t>
            </a:r>
            <a:r>
              <a:rPr lang="en-US" sz="1200" dirty="0">
                <a:solidFill>
                  <a:srgbClr val="E8F4F8"/>
                </a:solidFill>
              </a:rPr>
              <a:t>Optimal + complete + dramatically fewer nodes. The go-to algorithm for informed search.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4197096"/>
            <a:ext cx="411480" cy="41148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4215384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41605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B6D4"/>
                </a:solidFill>
              </a:rPr>
              <a:t>Manhattan &gt; Misplaced  </a:t>
            </a:r>
            <a:r>
              <a:rPr lang="en-US" sz="1200" dirty="0">
                <a:solidFill>
                  <a:srgbClr val="E8F4F8"/>
                </a:solidFill>
              </a:rPr>
              <a:t>Better heuristics mean fewer node expansions. Manhattan distance gives ~4× improvement over H1.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4800600"/>
            <a:ext cx="8412480" cy="0"/>
          </a:xfrm>
          <a:prstGeom prst="line">
            <a:avLst/>
          </a:prstGeom>
          <a:noFill/>
          <a:ln w="12700">
            <a:solidFill>
              <a:srgbClr val="0891B2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1479</Words>
  <Application>Microsoft Office PowerPoint</Application>
  <PresentationFormat>On-screen Show (16:9)</PresentationFormat>
  <Paragraphs>339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Courier New</vt:lpstr>
      <vt:lpstr>TT Firs Neue Bold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8-Puzzle Intelligent Solver</dc:title>
  <dc:subject>PptxGenJS Presentation</dc:subject>
  <dc:creator>PptxGenJS</dc:creator>
  <cp:lastModifiedBy>Anuska Dey</cp:lastModifiedBy>
  <cp:revision>6</cp:revision>
  <dcterms:created xsi:type="dcterms:W3CDTF">2026-06-07T15:15:08Z</dcterms:created>
  <dcterms:modified xsi:type="dcterms:W3CDTF">2026-06-08T02:29:45Z</dcterms:modified>
</cp:coreProperties>
</file>